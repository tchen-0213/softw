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d2bb9cff844a9" /><Relationship Type="http://schemas.openxmlformats.org/officeDocument/2006/relationships/extended-properties" Target="/docProps/app.xml" Id="R34162180a3f742e1" /><Relationship Type="http://schemas.openxmlformats.org/officeDocument/2006/relationships/officeDocument" Target="/ppt/presentation.xml" Id="R9ab45b6177af46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a94ecce67484c"/>
  </p:sldMasterIdLst>
  <p:notesMasterIdLst>
    <p:notesMasterId xmlns:r="http://schemas.openxmlformats.org/officeDocument/2006/relationships" r:id="R65b2206542ff493c"/>
  </p:notesMasterIdLst>
  <p:sldIdLst>
    <p:sldId xmlns:r="http://schemas.openxmlformats.org/officeDocument/2006/relationships" id="256" r:id="Rc42649940e614b8b"/>
    <p:sldId xmlns:r="http://schemas.openxmlformats.org/officeDocument/2006/relationships" id="257" r:id="R46de5b175576434c"/>
    <p:sldId xmlns:r="http://schemas.openxmlformats.org/officeDocument/2006/relationships" id="258" r:id="R2cc8e05add5247be"/>
    <p:sldId xmlns:r="http://schemas.openxmlformats.org/officeDocument/2006/relationships" id="259" r:id="Rf6a95de91cf74d61"/>
    <p:sldId xmlns:r="http://schemas.openxmlformats.org/officeDocument/2006/relationships" id="260" r:id="R72a3684817a54a70"/>
    <p:sldId xmlns:r="http://schemas.openxmlformats.org/officeDocument/2006/relationships" id="261" r:id="R62dadf5602de4841"/>
    <p:sldId xmlns:r="http://schemas.openxmlformats.org/officeDocument/2006/relationships" id="262" r:id="R53b03beddd7c49f9"/>
    <p:sldId xmlns:r="http://schemas.openxmlformats.org/officeDocument/2006/relationships" id="263" r:id="Rbc500af89bfc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ac6eebc9f04138" /><Relationship Type="http://schemas.openxmlformats.org/officeDocument/2006/relationships/slideMaster" Target="/ppt/slideMasters/slideMaster1.xml" Id="R2d5a94ecce67484c" /><Relationship Type="http://schemas.openxmlformats.org/officeDocument/2006/relationships/notesMaster" Target="/ppt/notesMasters/notesMaster1.xml" Id="R65b2206542ff493c" /><Relationship Type="http://schemas.openxmlformats.org/officeDocument/2006/relationships/presProps" Target="/ppt/presProps.xml" Id="Rdb6d8f8a4e2e4f80" /><Relationship Type="http://schemas.openxmlformats.org/officeDocument/2006/relationships/tableStyles" Target="/ppt/tableStyles.xml" Id="R64d61f8fec1d4ab9" /><Relationship Type="http://schemas.openxmlformats.org/officeDocument/2006/relationships/slide" Target="/ppt/slides/slide1.xml" Id="Rc42649940e614b8b" /><Relationship Type="http://schemas.openxmlformats.org/officeDocument/2006/relationships/slide" Target="/ppt/slides/slide2.xml" Id="R46de5b175576434c" /><Relationship Type="http://schemas.openxmlformats.org/officeDocument/2006/relationships/slide" Target="/ppt/slides/slide3.xml" Id="R2cc8e05add5247be" /><Relationship Type="http://schemas.openxmlformats.org/officeDocument/2006/relationships/slide" Target="/ppt/slides/slide4.xml" Id="Rf6a95de91cf74d61" /><Relationship Type="http://schemas.openxmlformats.org/officeDocument/2006/relationships/slide" Target="/ppt/slides/slide5.xml" Id="R72a3684817a54a70" /><Relationship Type="http://schemas.openxmlformats.org/officeDocument/2006/relationships/slide" Target="/ppt/slides/slide6.xml" Id="R62dadf5602de4841" /><Relationship Type="http://schemas.openxmlformats.org/officeDocument/2006/relationships/slide" Target="/ppt/slides/slide7.xml" Id="R53b03beddd7c49f9" /><Relationship Type="http://schemas.openxmlformats.org/officeDocument/2006/relationships/slide" Target="/ppt/slides/slide8.xml" Id="Rbc500af89bfc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59221e1cfa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36f8717364ba4" /><Relationship Type="http://schemas.openxmlformats.org/officeDocument/2006/relationships/notesMaster" Target="/ppt/notesMasters/notesMaster1.xml" Id="Redf9902b87434e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74f76180c94f9b" /><Relationship Type="http://schemas.openxmlformats.org/officeDocument/2006/relationships/notesMaster" Target="/ppt/notesMasters/notesMaster1.xml" Id="Rc79f124a53de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71d0b99b214f44" /><Relationship Type="http://schemas.openxmlformats.org/officeDocument/2006/relationships/notesMaster" Target="/ppt/notesMasters/notesMaster1.xml" Id="Ra8c265ad91a64d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99b560450f4263" /><Relationship Type="http://schemas.openxmlformats.org/officeDocument/2006/relationships/notesMaster" Target="/ppt/notesMasters/notesMaster1.xml" Id="R09d6faa6890a42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301af407724d85" /><Relationship Type="http://schemas.openxmlformats.org/officeDocument/2006/relationships/notesMaster" Target="/ppt/notesMasters/notesMaster1.xml" Id="Rcf18e0c1041b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cada782b414e58" /><Relationship Type="http://schemas.openxmlformats.org/officeDocument/2006/relationships/notesMaster" Target="/ppt/notesMasters/notesMaster1.xml" Id="Rb05389399bc7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7b2df338d34535" /><Relationship Type="http://schemas.openxmlformats.org/officeDocument/2006/relationships/notesMaster" Target="/ppt/notesMasters/notesMaster1.xml" Id="Rf3f4c327c0ba46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7263fac9234a0d" /><Relationship Type="http://schemas.openxmlformats.org/officeDocument/2006/relationships/notesMaster" Target="/ppt/notesMasters/notesMaster1.xml" Id="Re69ca9c206ed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开场直接说明完成范围，不讲项目背景。强调本页的四类成果均有代码、配置、日志或原始报告。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- 02_docs/杨任宇老师班-13组-摸鱼-中期检查.pdf</a:t>
            </a:r>
          </a:p>
          <a:p xmlns:a="http://schemas.openxmlformats.org/drawingml/2006/main">
            <a:r>
              <a:t>- 04_tests/reports/tests/2026-09-02-功能测试部署完整复核.md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先沿箭头讲流水线，再分别说明成功 #77 和失败 #53。回答“失败怎么查”时展示日志、Events、describe 和诊断工件。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.github/workflows/ci-cd.yml</a:t>
            </a:r>
          </a:p>
          <a:p xmlns:a="http://schemas.openxmlformats.org/drawingml/2006/main">
            <a:r>
              <a:t>- 03_devops/2026-08-31-D7-01-CI-CD部署与回滚验收记录.md</a:t>
            </a:r>
          </a:p>
          <a:p xmlns:a="http://schemas.openxmlformats.org/drawingml/2006/main">
            <a:r>
              <a:t>- https://github.com/tchen-0213/softw/actions/runs/33579985248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重点解释“为什么这样拆”：用户域保护账号生命周期；商品域唯一维护库存；订单域保存不可逆交易状态与快照。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- 02_docs/微服务拆分设计.md</a:t>
            </a:r>
          </a:p>
          <a:p xmlns:a="http://schemas.openxmlformats.org/drawingml/2006/main">
            <a:r>
              <a:t>- 02_docs/微服务接口与数据归属.md</a:t>
            </a:r>
          </a:p>
          <a:p xmlns:a="http://schemas.openxmlformats.org/drawingml/2006/main">
            <a:r>
              <a:t>- services/service-boundaries.md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讲清“一表一主”原则和跨服务调用。可举下单例子：订单服务调用商品服务预留库存，不查询 Products 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- 02_docs/微服务接口与数据归属.md</a:t>
            </a:r>
          </a:p>
          <a:p xmlns:a="http://schemas.openxmlformats.org/drawingml/2006/main">
            <a:r>
              <a:t>- services/order-service/</a:t>
            </a:r>
          </a:p>
          <a:p xmlns:a="http://schemas.openxmlformats.org/drawingml/2006/main">
            <a:r>
              <a:t>- services/product-service/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按三类测试解释数据，不把各行简单相加为总数，因为公共测试存在复用。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- 04_tests/reports/tests/2026-09-02-功能测试部署完整复核.md</a:t>
            </a:r>
          </a:p>
          <a:p xmlns:a="http://schemas.openxmlformats.org/drawingml/2006/main">
            <a:r>
              <a:t>- 04_tests/README.md</a:t>
            </a:r>
          </a:p>
          <a:p xmlns:a="http://schemas.openxmlformats.org/drawingml/2006/main">
            <a:r>
              <a:t>- 02_docs/微服务公开API测试映射.md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现场展示 kubectl get hpa,pods 和压力脚本。强调实际 Pod 数最终回到 1，而不只看 Deployment 期望副本。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- 04_tests/reports/performance/HPA与故障处理实验记录.md</a:t>
            </a:r>
          </a:p>
          <a:p xmlns:a="http://schemas.openxmlformats.org/drawingml/2006/main">
            <a:r>
              <a:t>- 04_tests/reports/performance/raw/hpa-timeline-2026-09-01-d8-02.tsv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现场先缩容商品服务，再访问商品和订单依赖接口，最后恢复并检查 HPA。说明 trap 保证中断时也能恢复。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- 04_tests/reports/performance/HPA与故障处理实验记录.md</a:t>
            </a:r>
          </a:p>
          <a:p xmlns:a="http://schemas.openxmlformats.org/drawingml/2006/main">
            <a:r>
              <a:t>- 04_tests/reports/performance/raw/fault-isolation-2026-09-01-d8-02.txt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[演讲提示]</a:t>
            </a:r>
          </a:p>
          <a:p xmlns:a="http://schemas.openxmlformats.org/drawingml/2006/main">
            <a:r>
              <a:t>最后给出边界明确的结论：当前实现查询吞吐与延迟更好，但 CPU 和内存更高，不能说微服务天然更快。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- 04_tests/reports/performance/性能对比实验报告.md</a:t>
            </a:r>
          </a:p>
          <a:p xmlns:a="http://schemas.openxmlformats.org/drawingml/2006/main">
            <a:r>
              <a:t>- 04_tests/reports/performance/D7-03订单查询与索引优化报告.md</a:t>
            </a:r>
          </a:p>
          <a:p xmlns:a="http://schemas.openxmlformats.org/drawingml/2006/main">
            <a:r>
              <a:t>- 04_tests/reports/performance/interface-comparison-2026-08-28.csv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a074e78d5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6f61c76664206" /><Relationship Type="http://schemas.openxmlformats.org/officeDocument/2006/relationships/slideLayout" Target="/ppt/slideLayouts/slideLayout1.xml" Id="R9e8166a89816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166a89816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40a15075e4c1e" /><Relationship Type="http://schemas.openxmlformats.org/officeDocument/2006/relationships/notesSlide" Target="/ppt/notesSlides/notesSlide1.xml" Id="R91f2a28f1fa5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2cce52b2542c9" /><Relationship Type="http://schemas.openxmlformats.org/officeDocument/2006/relationships/image" Target="/ppt/media/image.png" Id="R6be60bfd96ed4716" /><Relationship Type="http://schemas.openxmlformats.org/officeDocument/2006/relationships/notesSlide" Target="/ppt/notesSlides/notesSlide2.xml" Id="Rd925e48b9ca84f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ed72e5b4b4f26" /><Relationship Type="http://schemas.openxmlformats.org/officeDocument/2006/relationships/notesSlide" Target="/ppt/notesSlides/notesSlide3.xml" Id="R3af1dd6b830b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0b56f63a84566" /><Relationship Type="http://schemas.openxmlformats.org/officeDocument/2006/relationships/notesSlide" Target="/ppt/notesSlides/notesSlide4.xml" Id="R8a1ba9dfae7b4d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9786ebd764200" /><Relationship Type="http://schemas.openxmlformats.org/officeDocument/2006/relationships/notesSlide" Target="/ppt/notesSlides/notesSlide5.xml" Id="Re17810e72d9741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bf278b9c463b" /><Relationship Type="http://schemas.openxmlformats.org/officeDocument/2006/relationships/notesSlide" Target="/ppt/notesSlides/notesSlide6.xml" Id="Rc466238c68d044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02785d2224978" /><Relationship Type="http://schemas.openxmlformats.org/officeDocument/2006/relationships/notesSlide" Target="/ppt/notesSlides/notesSlide7.xml" Id="R0e1d10a8c44c4f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3ffd5da0c43dd" /><Relationship Type="http://schemas.openxmlformats.org/officeDocument/2006/relationships/notesSlide" Target="/ppt/notesSlides/notesSlide8.xml" Id="R162261656928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4C1CAE-126C-4368-8248-2F81167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01 / 任务完成情况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B53E0-305E-4C44-B13B-549BF441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课程要求已形成可运行、可复现、可检查的交付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2A682-75A9-4B1C-9431-FE09E6CA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最终验收范围为 UC01-UC12，数据以 2026-09-02 完整复核为准。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58C3-3786-4CA7-9B50-7BEA060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99F98-429A-48AF-8C0A-04A2074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9CA47-8AF3-49F8-B717-C969908E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01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C5030-4F23-4361-9271-DF2CF12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00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04CC5-04E7-4268-B315-9DAE01F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2640A-D9CA-4D2C-807A-BA8F67C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业务范围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8D3F-B86E-4F4A-99F2-A3E60F7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12 个完整用例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B5F10-5904-4011-8AEF-1DBC002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UC01-UC12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D7475-9995-474F-91B5-9B1D9F64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00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B6ABD-93A6-4A2D-B7E3-E00D2BEA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162F5-B80D-443B-AC22-3FB21B2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工程文档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BF1A7-2604-4B84-BEDD-C53AB4E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527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07C5A"/>
                </a:solidFill>
              </a:defRPr>
            </a:pPr>
            <a:r>
              <a:rPr sz="1650" b="1">
                <a:solidFill>
                  <a:srgbClr val="F07C5A"/>
                </a:solidFill>
              </a:rPr>
              <a:t>42 张图 + 42 源文件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13B67-BB41-4FC1-BC94-016333A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需求 / 三层模型 / 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2B6C8-B0BD-49DE-BA9E-D1ED599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DB064-C12D-4994-A8DC-3DCBD055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685A5-2879-4B28-AB54-A4B9944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运行交付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6B04B-52A4-4DFB-A0E1-55DE29F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27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49A68"/>
                </a:solidFill>
              </a:defRPr>
            </a:pPr>
            <a:r>
              <a:rPr sz="1650" b="1">
                <a:solidFill>
                  <a:srgbClr val="249A68"/>
                </a:solidFill>
              </a:rPr>
              <a:t>单体 + 微服务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07318-D4BA-41B6-808C-B1CC2DA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Compose / Kind 均实测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2F765-29C1-410E-8F12-E1836EF2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400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4F888-D8B0-4EC0-8E18-1DB23B8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F3993-F5F9-4658-8135-353F435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自动化质量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B9B54-0EB3-40D8-B796-E687D4C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527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99100"/>
                </a:solidFill>
              </a:defRPr>
            </a:pPr>
            <a:r>
              <a:rPr sz="1650" b="1">
                <a:solidFill>
                  <a:srgbClr val="D99100"/>
                </a:solidFill>
              </a:rPr>
              <a:t>测试 + CI/CD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A1E29-BDDB-439F-9ECD-9FC36E47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失败阻断镜像和部署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DEE4D-BD1F-4FD6-804C-F77B572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72332"/>
          </a:solidFill>
          <a:ln xmlns:a="http://schemas.openxmlformats.org/drawingml/2006/main" w="9525">
            <a:solidFill>
              <a:srgbClr val="1723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97E47-41B5-4D47-AFB7-AE0FA77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9CFFF"/>
                </a:solidFill>
              </a:defRPr>
            </a:pPr>
            <a:r>
              <a:rPr sz="1125" b="1">
                <a:solidFill>
                  <a:srgbClr val="A9CFFF"/>
                </a:solidFill>
              </a:rPr>
              <a:t>已验证基线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09743-E1EF-4C37-8934-0FD83D6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monolith-start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AFD15-82E9-4CD4-9A91-C5D26B3B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9CFFF"/>
                </a:solidFill>
              </a:defRPr>
            </a:pPr>
            <a:r>
              <a:rPr sz="1125" b="1">
                <a:solidFill>
                  <a:srgbClr val="A9CFFF"/>
                </a:solidFill>
              </a:rPr>
              <a:t>当前代码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F372F-A352-4FE8-9DFA-A232DFC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c1b73ec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602C17-DB34-4672-9172-E7D15AD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9CFFF"/>
                </a:solidFill>
              </a:defRPr>
            </a:pPr>
            <a:r>
              <a:rPr sz="1125" b="1">
                <a:solidFill>
                  <a:srgbClr val="A9CFFF"/>
                </a:solidFill>
              </a:rPr>
              <a:t>最新流水线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3090F-064A-480E-B0F5-C3D8414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softw-ci-cd #77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69E0A1-BF0B-42FF-983E-6F4957F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9CFFF"/>
                </a:solidFill>
              </a:defRPr>
            </a:pPr>
            <a:r>
              <a:rPr sz="1125" b="1">
                <a:solidFill>
                  <a:srgbClr val="A9CFFF"/>
                </a:solidFill>
              </a:rPr>
              <a:t>部署结果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E4AC4-0F53-43EE-856F-50E812B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48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全部健康</a:t>
            </a:r>
          </a:p>
        </p:txBody>
      </p:sp>
    </p:spTree>
    <p:extLst>
      <p:ext uri="{BB962C8B-B14F-4D97-AF65-F5344CB8AC3E}">
        <p14:creationId xmlns:p14="http://schemas.microsoft.com/office/powerpoint/2010/main" val="1080086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6BDD44-8C51-45B4-9359-3BF3C82B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 / CI/CD 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3A749-7330-4AA5-951A-BE466D8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测试全部通过后，镜像和 Kubernetes 部署才会继续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6DDB7-1CB3-4518-830C-9E284924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GitHub Actions #77：main / c1b73ec / Success，6 分 12 秒，12 个工件。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C477-337C-42CF-A734-7727D5C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35697-5BBE-47A0-8A61-6E1C393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F7AE5-0A41-4BE0-9EFD-46C63A1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02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0E18D-677C-475E-9529-AF24841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2332"/>
          </a:solidFill>
          <a:ln xmlns:a="http://schemas.openxmlformats.org/drawingml/2006/main" w="9525">
            <a:solidFill>
              <a:srgbClr val="1723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E46D0-565A-49D3-836F-04CF8018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591A4-2789-4F12-9EC4-0653BDAD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7320A-C90C-4DA0-8590-09F26E3B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3A87-4202-480C-8970-F3FF693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后端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8B35C-053C-4D92-A44E-B5CEFCC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FCB4F-290D-44E1-8F2F-1577EF5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5EA5A-7B45-4B28-82FE-698CB714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前端 / 覆盖率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13D2A-355D-4850-89E7-3AE3E99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36257-384D-41F3-AB71-2DA87EA7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07C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CCEDF-64E9-42D1-84DB-37FF929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浏览器 E2E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9EABF-AE1D-404A-8B7B-F2DEA8D2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5E6C1-0CC6-4D56-A832-D8E9A7C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91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A81CC-2978-4202-BA4D-BB2BC58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安全检查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EC33B-44AF-4BEB-AF1C-60CB913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1902B-746C-4B89-8772-A5C627F6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49A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65E3E-45F1-45B8-A8F7-D09C7ED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7 个 SHA 镜像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58D1E-769F-41E4-8FFC-0E30DEAA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81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5D6874"/>
                </a:solidFill>
              </a:defRPr>
            </a:pPr>
            <a:r>
              <a:rPr sz="15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8C374-DFB3-4F6F-ACE7-3DA62C9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1930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49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1EABE-D414-496C-B566-B2CA76D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19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</a:defRPr>
            </a:pPr>
            <a:r>
              <a:rPr sz="1050" b="1">
                <a:solidFill>
                  <a:srgbClr val="101820"/>
                </a:solidFill>
              </a:rPr>
              <a:t>Kind 部署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60bfd96ed4716"/>
          <a:stretch xmlns:a="http://schemas.openxmlformats.org/drawingml/2006/main"/>
        </p:blipFill>
        <p:spPr>
          <a:xfrm xmlns:a="http://schemas.openxmlformats.org/drawingml/2006/main">
            <a:off x="609600" y="3051495"/>
            <a:ext cx="5810250" cy="246951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CD88D-98FF-4EAF-AA40-11094F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0D325-88CF-4E63-8EBD-FEE092B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9A68"/>
                </a:solidFill>
              </a:defRPr>
            </a:pPr>
            <a:r>
              <a:rPr sz="1500" b="1">
                <a:solidFill>
                  <a:srgbClr val="249A68"/>
                </a:solidFill>
              </a:rPr>
              <a:t>成功记录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7B412-80E5-4E1A-A71B-8487304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71900"/>
            <a:ext cx="1666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7 个版本化镜像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Kind rollout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health / ready / version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12 个工件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B3548-3DA5-4CFD-896E-4604C3D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F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BF8760-AD89-4978-A7A8-24B19115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失败门禁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124B9-3147-4DAD-A49A-B76BDF4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71900"/>
            <a:ext cx="1666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#53 API/E2E 失败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docker-build skipped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kubernetes-deploy skipped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日志与诊断可追溯</a:t>
            </a:r>
          </a:p>
        </p:txBody>
      </p:sp>
    </p:spTree>
    <p:extLst>
      <p:ext uri="{BB962C8B-B14F-4D97-AF65-F5344CB8AC3E}">
        <p14:creationId xmlns:p14="http://schemas.microsoft.com/office/powerpoint/2010/main" val="1718410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84C49-D57F-488B-B553-B62F432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 / 微服务拆分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53064-B486-49BD-AECD-72CA574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按业务能力拆成 3 个业务服务，网关不计入数量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4FFC7-9BB6-4948-9338-46E90EA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划分围绕身份、交易标的和交易过程，不按用例数量机械拆分。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768C-1883-481F-A58B-F71CB2BF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8D514-401E-4882-B660-677A0D0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512C5-5AB4-4DA9-A970-0FB2BE5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03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5FFE5-9529-4E4B-A8C6-6A82BA6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8FB4F-2655-478E-A05F-EC315E42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React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EF628-A7F7-49F2-AEC3-798A5F8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33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5D6874"/>
                </a:solidFill>
              </a:defRPr>
            </a:pPr>
            <a:r>
              <a:rPr sz="180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5C43A-1A47-44FC-B1C0-5F1FC919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332"/>
          </a:solidFill>
          <a:ln xmlns:a="http://schemas.openxmlformats.org/drawingml/2006/main" w="9525">
            <a:solidFill>
              <a:srgbClr val="17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4F179-DBB1-4DFE-AFC4-97248550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717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27FD1-315A-41C8-B31B-3ECBC56C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A9F7D-79A5-49B6-B495-718D845C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57652-E8B4-4363-8FC9-79BCEC8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240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user-service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26E6C-9BDD-4D74-A415-DC232DCC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注册登录、资料、地址、角色、信用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22EA8-F87E-4CDF-9C57-20A5D37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193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5D6874"/>
                </a:solidFill>
              </a:defRPr>
            </a:pPr>
            <a:r>
              <a:rPr sz="18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AB8FC-496C-4F07-B859-314F0906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49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3FD75-7951-44C2-AE18-EB2849D6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EDAD4-31FD-4E6F-B839-BBA124B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49A68"/>
                </a:solidFill>
              </a:defRPr>
            </a:pPr>
            <a:r>
              <a:rPr sz="1500" b="1">
                <a:solidFill>
                  <a:srgbClr val="249A68"/>
                </a:solidFill>
              </a:rPr>
              <a:t>product-service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3DE48-8497-470E-BBBF-32A9D47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19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商品、二手、店铺、评价、聊天、库存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958B1-B6D9-4068-AD84-BA9F604C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5D6874"/>
                </a:solidFill>
              </a:defRPr>
            </a:pPr>
            <a:r>
              <a:rPr sz="18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C3F41-82F7-4A63-88C9-91E7A1DE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07C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4582A-7FD5-4BAC-98C6-025A5971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CFF1A-9162-4360-8350-EED6BC9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053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order-service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E8A9D-D077-4447-8CDC-DB41C3A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下单、支付、取消、发货、收货、状态机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52A0D-1AE0-409C-85E7-CD25C5E5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005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5D6874"/>
                </a:solidFill>
              </a:defRPr>
            </a:pPr>
            <a:r>
              <a:rPr sz="1875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E7C69-17E3-420B-B5EF-502F385C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305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64008-CBE2-4B7F-88AC-8310BFA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网关职责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DE70E-3ED7-45CD-9DED-E664FFDD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统一入口与路径转发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JWT、Request-ID、幂等键透传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超时返回 503，不伪造业务成功</a:t>
            </a:r>
          </a:p>
        </p:txBody>
      </p:sp>
    </p:spTree>
    <p:extLst>
      <p:ext uri="{BB962C8B-B14F-4D97-AF65-F5344CB8AC3E}">
        <p14:creationId xmlns:p14="http://schemas.microsoft.com/office/powerpoint/2010/main" val="155697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E7E0C-9BEC-4AB7-B5EF-17B52886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 / 数据归属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9E350-5A99-4D0A-97D9-42EF8B7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每张业务表只有一个管理服务，其他服务通过 API 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9016-BC1A-4B02-9079-A03C3F3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三个 Schema 可位于同一 MySQL，但不跨服务直接联表。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F41B2-6784-4AE2-8C89-9F2EF56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CB5B-0174-4FBB-800E-7AABE9B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8593B-05CB-4D75-BCD7-51656FF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0B51-3F9F-4755-A645-1D9A9D98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A181D-E74C-4579-B8FB-B0DF2A4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90DF4-6A61-4F7A-BD44-D35769AA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softw_users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46997-58E6-4F5F-9387-BD507613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user-service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CD695-E6D1-4FA1-AE84-6984C21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DE22F-FB5C-48E6-B204-959E7EE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480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B73B2-ECFC-430E-B88E-2295148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B7F24-0B6C-46E3-8700-36762EB6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80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Addresses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68A5E-ED97-4B59-90B4-8CBAAD6A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9DA63-D9CA-48CB-BB61-2070A0C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850AA-8DF1-4172-848B-D624AA8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49A68"/>
                </a:solidFill>
              </a:defRPr>
            </a:pPr>
            <a:r>
              <a:rPr sz="1575" b="1">
                <a:solidFill>
                  <a:srgbClr val="249A68"/>
                </a:solidFill>
              </a:rPr>
              <a:t>softw_catalog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94223-4D36-403D-825D-37E6B124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product-service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4A6A2-ECCF-418D-BB60-C65678F4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6CF86-8425-484B-BEB4-20AE2386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480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Products / Shops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F5D85-49C1-47BA-8420-97BB99D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AA68F-43F6-4ECF-B06E-8748332D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480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Evaluations / Chats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A28E7-5381-42A9-AA03-65F5097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8FC2E-93D1-40A6-ACC8-28B912C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481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InventoryReservations / uploads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0ED21-70ED-43C3-936A-0F5267ED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BFDCB-E952-4CC1-9198-265B70C1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803B3-5001-4D49-8A42-5528D30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07C5A"/>
                </a:solidFill>
              </a:defRPr>
            </a:pPr>
            <a:r>
              <a:rPr sz="1575" b="1">
                <a:solidFill>
                  <a:srgbClr val="F07C5A"/>
                </a:solidFill>
              </a:rPr>
              <a:t>softw_orders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62C4B-7E0E-417A-B412-FA58BF4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order-service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4754E-7D6D-4E08-B865-12590810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3A637-4E39-4688-BD1D-849AA47A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Orders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33B41-C765-4B01-ACD5-79F67EA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6D663-EB30-475C-8CDB-D1E968C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480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OrderSellers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EAB09-ADEB-4701-8CF7-59BE553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332"/>
          </a:solidFill>
          <a:ln xmlns:a="http://schemas.openxmlformats.org/drawingml/2006/main" w="9525">
            <a:solidFill>
              <a:srgbClr val="1723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9B586-A68F-42B5-9EE3-9CFB6D2C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订单 → 商品：库存预留 / 释放 / 完成 API    ·    订单保存商品、地址、物流快照    ·    X-Internal-Token 保护内部接口</a:t>
            </a:r>
          </a:p>
        </p:txBody>
      </p:sp>
    </p:spTree>
    <p:extLst>
      <p:ext uri="{BB962C8B-B14F-4D97-AF65-F5344CB8AC3E}">
        <p14:creationId xmlns:p14="http://schemas.microsoft.com/office/powerpoint/2010/main" val="1318935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38529D-B4D3-447F-896F-CE7D653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05 / 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353B-1412-4905-A6B7-896BD95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三类测试覆盖 UC01-UC12，公开业务 API 全部纳入回归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7D2D2-C223-4C29-AE25-405F8A58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断言、真实数据库和页面流程共同证明功能，不以覆盖率代替业务测试。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6E9C6-0E71-4522-A90D-28863D3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4AB0C-0ACA-4FC0-BE34-D2DD1145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6521F-F51D-4A52-96A7-07D0676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C1428-C75E-4ADD-B06A-0DD881E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F80ED"/>
                </a:solidFill>
              </a:defRPr>
            </a:pPr>
            <a:r>
              <a:rPr sz="2325" b="1">
                <a:solidFill>
                  <a:srgbClr val="2F80ED"/>
                </a:solidFill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C4F52-5EF7-47DB-90D3-EE0D616E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后端单元 / 安全 / 控制器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88842-2521-43C6-8474-7814FC1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49A68"/>
                </a:solidFill>
              </a:defRPr>
            </a:pPr>
            <a:r>
              <a:rPr sz="2325" b="1">
                <a:solidFill>
                  <a:srgbClr val="249A68"/>
                </a:solidFill>
              </a:rPr>
              <a:t>100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C09AD-BDD8-4363-A8B1-4485375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前端 Vitest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33E2A-4952-4762-8BEA-C2FF4B44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76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7C5A"/>
                </a:solidFill>
              </a:defRPr>
            </a:pPr>
            <a:r>
              <a:rPr sz="2325" b="1">
                <a:solidFill>
                  <a:srgbClr val="F07C5A"/>
                </a:solidFill>
              </a:rPr>
              <a:t>32 / 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85762-6B9F-4DCC-B795-632E548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单体真实 MySQL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D344F-D35C-48CF-8369-6A84CEC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D99100"/>
                </a:solidFill>
              </a:defRPr>
            </a:pPr>
            <a:r>
              <a:rPr sz="2325" b="1">
                <a:solidFill>
                  <a:srgbClr val="D99100"/>
                </a:solidFill>
              </a:rPr>
              <a:t>6 /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175EE-CE28-4948-8862-21064881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Playwright E2E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CEEF1-4FD8-4F06-A582-40A5F65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1820"/>
                </a:solidFill>
              </a:defRPr>
            </a:pPr>
            <a:r>
              <a:rPr sz="2325" b="1">
                <a:solidFill>
                  <a:srgbClr val="101820"/>
                </a:solidFill>
              </a:rPr>
              <a:t>15 / 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3F4C5-C7BE-4753-9216-21358C9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微服务网关 API/E2E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BCBC9-C01E-425E-B423-64FF73F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9CF8B-38A4-4ECB-B988-80188B3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单元测试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39E76-0590-4B4C-A08E-0B18E14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关键规则、输入边界、异常分支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33740-AEBA-4585-BDFA-4AE21C64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80 通过，0 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13029-C325-4321-A193-26F5CF53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A7EA2-37ED-4141-9630-D486C6B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集成 /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F567-4EC4-40AF-820E-3BF3C10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真实 MySQL、网关、跨服务调用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3CB78-339F-44E0-886C-EB7DB489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32/32 + 22/22 + 15/15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9B54B-568B-45DC-8956-E74F27CF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ABD80-1B45-4CD2-B089-F285F34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端到端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45A21-8038-44FF-9F2D-8C60922B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从页面入口走完整业务流程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367FBC-F2E7-4CAB-8E54-4061E179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6/6，覆盖 UC01-UC12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3DF88-5AC0-4E98-B738-98BD43F9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6A8C1F-4A7C-4655-8E18-3673757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覆盖门禁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79716-C579-405F-82C7-BCD5E566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958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前端语句 / 分支 / 函数 / 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C4F43-2C6E-457C-BA03-B648E4A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94.42 / 81.83 / 92.34 / 94.42%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42333B-7943-4A68-AC4C-9DF8C77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A5A56-C563-4649-A9FA-2B8B28D8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公开接口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61E49-045F-435E-A4F4-132BE13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53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源码、清单、文档、测试标题防漂移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F26FE-AD78-4675-94FF-CF784146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49 项业务 API 全部触达</a:t>
            </a:r>
          </a:p>
        </p:txBody>
      </p:sp>
    </p:spTree>
    <p:extLst>
      <p:ext uri="{BB962C8B-B14F-4D97-AF65-F5344CB8AC3E}">
        <p14:creationId xmlns:p14="http://schemas.microsoft.com/office/powerpoint/2010/main" val="2085316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D7C2E-D5CA-43DE-99D5-18DEFA53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06 / 自动扩缩容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C224E-050D-45D1-A85F-C55F5B9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压力升高后副本从 1 扩到 5，负载下降后回到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2DF8E-C6DF-4C8A-B8C9-7CE8B5E0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Kind v1.34.3，metrics-server v0.8.1，HPA CPU 目标 60%，min=1 / max=5。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DBF3D-ED7C-4859-BA16-C7BF801B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1E3BC-5C55-4906-8EAD-CA8EE1A0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E9D95-9EB1-4F37-BFA6-9CE829CA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06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D1523-1590-4488-9254-984AC6C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2EFE6-3DFD-47BD-A2CD-826F1E5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5D6874"/>
                </a:solidFill>
              </a:defRPr>
            </a:pPr>
            <a:r>
              <a:rPr sz="22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E226E-D736-428F-8C77-0EB7EF22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0A6F1-37F3-4306-A7F4-3B8B1A4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5D6874"/>
                </a:solidFill>
              </a:defRPr>
            </a:pPr>
            <a:r>
              <a:rPr sz="22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52995-2E99-415A-A51C-EF9DA090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52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07C5A"/>
                </a:solidFill>
              </a:defRPr>
            </a:pPr>
            <a:r>
              <a:rPr sz="3300" b="1">
                <a:solidFill>
                  <a:srgbClr val="F07C5A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C7325-6358-4354-8ADE-AD6207A5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5D6874"/>
                </a:solidFill>
              </a:defRPr>
            </a:pPr>
            <a:r>
              <a:rPr sz="22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B0D80-EA98-49A9-A51B-25C5F28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49A68"/>
                </a:solidFill>
              </a:defRPr>
            </a:pPr>
            <a:r>
              <a:rPr sz="3300" b="1">
                <a:solidFill>
                  <a:srgbClr val="249A68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D93D7-2975-4EC6-913A-5916A2F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638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1A8DE-DE0D-4C30-8F16-3E9B22F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负载结果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D2D87-F65B-4A56-BCB1-96F37382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1820"/>
                </a:solidFill>
              </a:defRPr>
            </a:pPr>
            <a:r>
              <a:rPr sz="2325" b="1">
                <a:solidFill>
                  <a:srgbClr val="101820"/>
                </a:solidFill>
              </a:rPr>
              <a:t>997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C70BF-C590-4652-A1FA-06FDCA6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请求数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C43A6-8521-4704-8860-0585DF03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1820"/>
                </a:solidFill>
              </a:defRPr>
            </a:pPr>
            <a:r>
              <a:rPr sz="2325" b="1">
                <a:solidFill>
                  <a:srgbClr val="101820"/>
                </a:solidFill>
              </a:rPr>
              <a:t>9.49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6AE73-7F6A-49BF-A78C-3B144673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req/s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C4531-AAA4-40F4-8327-FE3BE0A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576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49A68"/>
                </a:solidFill>
              </a:defRPr>
            </a:pPr>
            <a:r>
              <a:rPr sz="2325" b="1">
                <a:solidFill>
                  <a:srgbClr val="249A68"/>
                </a:solidFill>
              </a:rPr>
              <a:t>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258EE-09D0-4BBA-BE04-7AAA218A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14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错误率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1C70A-5E49-4875-8B27-AE94873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1994 / 1994 业务断言通过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6570C-5DAF-4305-8246-2108B67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876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9DEF6-5642-4C34-B35B-BCBBDD2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时延与资源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DAF04-D9E9-44FF-B05C-19AAFB5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1820"/>
                </a:solidFill>
              </a:defRPr>
            </a:pPr>
            <a:r>
              <a:rPr sz="2325" b="1">
                <a:solidFill>
                  <a:srgbClr val="101820"/>
                </a:solidFill>
              </a:rPr>
              <a:t>644.72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C9908-41B0-4C51-98BF-98098939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平均响应时间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9E5C4-1ABD-4A67-A7CA-A89CCC8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1820"/>
                </a:solidFill>
              </a:defRPr>
            </a:pPr>
            <a:r>
              <a:rPr sz="2325" b="1">
                <a:solidFill>
                  <a:srgbClr val="101820"/>
                </a:solidFill>
              </a:rPr>
              <a:t>1124.54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A6EF6-6659-49A1-AB95-6FDB97A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874"/>
                </a:solidFill>
              </a:defRPr>
            </a:pPr>
            <a:r>
              <a:rPr sz="1050">
                <a:solidFill>
                  <a:srgbClr val="5D6874"/>
                </a:solidFill>
              </a:rPr>
              <a:t>P95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3CCD7-04C2-4771-A8BC-570B5507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00500"/>
            <a:ext cx="371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峰值 HPA CPU 501%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商品 Pod CPU 合计 645m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内存合计 129Mi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25 个资源与副本时间线样本</a:t>
            </a:r>
          </a:p>
        </p:txBody>
      </p:sp>
    </p:spTree>
    <p:extLst>
      <p:ext uri="{BB962C8B-B14F-4D97-AF65-F5344CB8AC3E}">
        <p14:creationId xmlns:p14="http://schemas.microsoft.com/office/powerpoint/2010/main" val="622229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CD1C29-061E-4A21-97EC-628D502C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07 / 故障处理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D4548-AA2C-4BCB-BCB2-BF3DBC46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停止商品服务后返回设计好的降级结果，其他服务保持可用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1C0B-E373-41EB-A12F-1763CAF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实验期间 product-service 缩至 0；结束后自动恢复副本和 HPA。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B20BE-3B4C-44B7-B4D2-1F27A686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F93CF-08EF-40B9-916A-6E7F1FF0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6E08E-AAEC-4D15-9A82-C3D5C9F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07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9D69F-BC13-4AFD-80DC-1BB36DC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866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07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91E52-A2BA-4891-BC56-E6B5E4B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07C5A"/>
                </a:solidFill>
              </a:defRPr>
            </a:pPr>
            <a:r>
              <a:rPr sz="1275" b="1">
                <a:solidFill>
                  <a:srgbClr val="F07C5A"/>
                </a:solidFill>
              </a:rPr>
              <a:t>故障注入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87262-305D-43AC-AAB0-AC0F8E6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product-service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0 /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B82E7-6392-4B86-8F0E-2E838A0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D6874"/>
                </a:solidFill>
              </a:defRPr>
            </a:pPr>
            <a:r>
              <a:rPr sz="16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FE047-770C-4E63-B37A-33F8A1C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14550"/>
            <a:ext cx="1866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07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A0C44-0069-42F0-A9C9-02EC7F1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07C5A"/>
                </a:solidFill>
              </a:defRPr>
            </a:pPr>
            <a:r>
              <a:rPr sz="1275" b="1">
                <a:solidFill>
                  <a:srgbClr val="F07C5A"/>
                </a:solidFill>
              </a:rPr>
              <a:t>商品接口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42079-5AB9-4652-8170-B364BD8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HTTP 503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依赖暂不可用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E4614-FBFB-4305-84DE-08E9821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D6874"/>
                </a:solidFill>
              </a:defRPr>
            </a:pPr>
            <a:r>
              <a:rPr sz="16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6943F-55AE-493C-939B-6B71243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14550"/>
            <a:ext cx="1866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91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018ED-729D-409D-A217-66995C5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99100"/>
                </a:solidFill>
              </a:defRPr>
            </a:pPr>
            <a:r>
              <a:rPr sz="1275" b="1">
                <a:solidFill>
                  <a:srgbClr val="D99100"/>
                </a:solidFill>
              </a:rPr>
              <a:t>订单依赖检查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3D181-62F8-4EF9-8F97-153BD4F9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HTTP 206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status=degraded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3E648-C52E-4886-8697-22E4F3C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D6874"/>
                </a:solidFill>
              </a:defRPr>
            </a:pPr>
            <a:r>
              <a:rPr sz="16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1D316-1B52-47F1-BCBA-9A162C34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14550"/>
            <a:ext cx="1866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49A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5906D-AAA1-447A-A7B0-D02328B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9A68"/>
                </a:solidFill>
              </a:defRPr>
            </a:pPr>
            <a:r>
              <a:rPr sz="1275" b="1">
                <a:solidFill>
                  <a:srgbClr val="249A68"/>
                </a:solidFill>
              </a:rPr>
              <a:t>其他服务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223BE-CEAD-46A9-8A34-860269E4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网关 / 用户 / 订单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保持存活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289FC-DDF7-4BA1-95DA-04C16D2A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5D6874"/>
                </a:solidFill>
              </a:defRPr>
            </a:pPr>
            <a:r>
              <a:rPr sz="1650">
                <a:solidFill>
                  <a:srgbClr val="5D6874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BB169-3A5A-4BD8-A8E0-CEF832F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866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249A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B4F9E-25C4-4727-93B9-1B259C32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9A68"/>
                </a:solidFill>
              </a:defRPr>
            </a:pPr>
            <a:r>
              <a:rPr sz="1275" b="1">
                <a:solidFill>
                  <a:srgbClr val="249A68"/>
                </a:solidFill>
              </a:rPr>
              <a:t>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72FEF-4B8C-461A-88DB-EC19F7F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商品 200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1820"/>
                </a:solidFill>
              </a:defRPr>
            </a:pPr>
            <a:r>
              <a:rPr sz="1125">
                <a:solidFill>
                  <a:srgbClr val="101820"/>
                </a:solidFill>
              </a:rPr>
              <a:t>HPA 1 /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49D8C-5AF7-4697-A884-C1392EA9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F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85E1F-CD21-42E8-99FB-F102149D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5A"/>
                </a:solidFill>
              </a:defRPr>
            </a:pPr>
            <a:r>
              <a:rPr sz="1425" b="1">
                <a:solidFill>
                  <a:srgbClr val="F07C5A"/>
                </a:solidFill>
              </a:rPr>
              <a:t>故障期间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AC8D4-A276-4C10-A351-E9AD40A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商品接口 503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订单查询保持可用并返回备用提示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网关 /live、用户 /live、订单 /live 均为 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8DFA9-BA72-4112-B03D-08844F4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DE5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D5D71-0656-4A33-87FC-6A560E0D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49A68"/>
                </a:solidFill>
              </a:defRPr>
            </a:pPr>
            <a:r>
              <a:rPr sz="1425" b="1">
                <a:solidFill>
                  <a:srgbClr val="249A68"/>
                </a:solidFill>
              </a:rPr>
              <a:t>恢复验证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DC995-920D-497A-8CB9-197FA42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商品服务恢复 1/1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网关 /ready 返回 200</a:t>
            </a:r>
          </a:p>
          <a:p xmlns:a="http://schemas.openxmlformats.org/drawingml/2006/main">
            <a:pPr>
              <a:buNone/>
              <a:defRPr sz="1200">
                <a:solidFill>
                  <a:srgbClr val="101820"/>
                </a:solidFill>
              </a:defRPr>
            </a:pPr>
            <a:r>
              <a:rPr sz="1200">
                <a:solidFill>
                  <a:srgbClr val="101820"/>
                </a:solidFill>
              </a:rPr>
              <a:t>HPA 重新创建，min=1 / max=5 / CPU=60%</a:t>
            </a:r>
          </a:p>
        </p:txBody>
      </p:sp>
    </p:spTree>
    <p:extLst>
      <p:ext uri="{BB962C8B-B14F-4D97-AF65-F5344CB8AC3E}">
        <p14:creationId xmlns:p14="http://schemas.microsoft.com/office/powerpoint/2010/main" val="1190841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3856FA-7832-4A79-A25D-D923A1A5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08 / 性能对比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70EB9-BBC3-4755-B088-6C30D0D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01820"/>
                </a:solidFill>
              </a:defRPr>
            </a:pPr>
            <a:r>
              <a:rPr sz="2400" b="1">
                <a:solidFill>
                  <a:srgbClr val="101820"/>
                </a:solidFill>
              </a:rPr>
              <a:t>限定条件下查询更快，但微服务资源成本更高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4C936-ACF9-4936-9282-95B9F00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D6874"/>
                </a:solidFill>
              </a:defRPr>
            </a:pPr>
            <a:r>
              <a:rPr sz="1200">
                <a:solidFill>
                  <a:srgbClr val="5D6874"/>
                </a:solidFill>
              </a:rPr>
              <a:t>同机、同数据、同脚本；商品 3 接口各运行 3 次，18 个 case 错误率均为 0%。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B533A-2E04-45FE-8F36-03A521DE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1E811-33A6-48C1-9ED5-F7DF6C0C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软件工程基础实践 · 2026 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DA55C-D444-4830-B2BC-7F321A2B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D6874"/>
                </a:solidFill>
              </a:defRPr>
            </a:pPr>
            <a:r>
              <a:rPr sz="825">
                <a:solidFill>
                  <a:srgbClr val="5D6874"/>
                </a:solidFill>
              </a:rPr>
              <a:t>08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58B66-711F-4299-9934-2738986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2913-00FB-44F2-9BB7-770EF6F2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吞吐量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2CE1C-BF72-4FBF-A1BF-B003D8A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平均延迟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D5B90-F1DB-4F25-8B05-627BEBF3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E1FD1-9DEC-4876-9ADB-D8CBAE5B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D6874"/>
                </a:solidFill>
              </a:defRPr>
            </a:pPr>
            <a:r>
              <a:rPr sz="1125" b="1">
                <a:solidFill>
                  <a:srgbClr val="5D6874"/>
                </a:solidFill>
              </a:rPr>
              <a:t>内存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F4BAE-817D-420E-8B69-20C51BF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38F7B-6074-4111-8961-320CA21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商品列表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863D6-CE7F-4578-9F95-1F5EF0B8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+61.9%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06CDD-91B0-419D-886A-F7C88A4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-38.6%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F511E-4B8E-434F-98F2-1E52ECF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+55.2%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5712B-C7AB-40B1-9974-3CA72204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+5.1%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8ED4B-B241-4338-B7D5-094AE25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38958-3085-49A4-8751-4F8C35F7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商品搜索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CCB2C-0B60-4714-92DE-8CA1EC02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+53.9%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07515-ED44-46C5-BB20-2F85610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-35.5%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41753-A512-40E7-9878-FD7CC30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+50.7%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2106E-4460-497D-8176-5F0B03A1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+17.3%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AF06D-8CD5-456A-BDE8-CEA5DDE5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3A252-02AD-4E57-AF78-83B43E0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商品详情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97C42-26F4-4662-8E36-F2D1DF0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+30.9%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CB0C3-521D-40F2-964A-8DE7C78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49A68"/>
                </a:solidFill>
              </a:defRPr>
            </a:pPr>
            <a:r>
              <a:rPr sz="1875" b="1">
                <a:solidFill>
                  <a:srgbClr val="249A68"/>
                </a:solidFill>
              </a:rPr>
              <a:t>-26.2%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7F72C-3015-4EB3-A7DC-80134366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+6.9%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3ECB5-9DE3-4CEE-81AF-4AFFB586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7C5A"/>
                </a:solidFill>
              </a:defRPr>
            </a:pPr>
            <a:r>
              <a:rPr sz="1500" b="1">
                <a:solidFill>
                  <a:srgbClr val="F07C5A"/>
                </a:solidFill>
              </a:rPr>
              <a:t>+14.0%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5FDA1D-7ECB-436F-9334-4CC3834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A5204-5FDC-4125-B242-65B767B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订单查询索引优化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A5F65A-4ECB-4518-A80D-1CF0B43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20,000 条订单，7 轮：平均 307.554 ms → 4.587 ms；P95 341.074 ms → 5.201 ms；返回 ID 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063627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2026-09-02T08:23:54.4860000Z</dcterms:created>
  <dcterms:modified xsi:type="dcterms:W3CDTF">2026-09-02T08:23:54.4860000Z</dcterms:modified>
</coreProperties>
</file>